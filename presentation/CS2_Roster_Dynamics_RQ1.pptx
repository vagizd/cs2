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RESEARCH QUESTION 1 • EMPIRICAL EVENT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6FC"/>
                </a:solidFill>
              </a:defRPr>
            </a:pPr>
            <a:r>
              <a:t>When a Tier 1 Team Replaces 1 Player,</a:t>
            </a:r>
            <a:br/>
            <a:r>
              <a:t>Does Performance Sustainably Improve?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49E"/>
                </a:solidFill>
              </a:defRPr>
            </a:pPr>
            <a:r>
              <a:t>An empirical event study measuring macroeconomic match win rates and individual player performance dynamics across ±90 days surrounding isolated single-player substitutions in modern Tier 1 Counter-Strike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2450592" cy="13258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434840"/>
            <a:ext cx="21762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45</a:t>
            </a:r>
          </a:p>
          <a:p>
            <a:pPr>
              <a:spcBef>
                <a:spcPts val="400"/>
              </a:spcBef>
              <a:defRPr sz="1100" b="1">
                <a:solidFill>
                  <a:srgbClr val="F0F6FC"/>
                </a:solidFill>
              </a:defRPr>
            </a:pPr>
            <a:r>
              <a:t>Isolated 1-Player Moves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Clean 90d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4297680"/>
            <a:ext cx="2450592" cy="13258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4434840"/>
            <a:ext cx="21762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FB950"/>
                </a:solidFill>
              </a:defRPr>
            </a:pPr>
            <a:r>
              <a:t>1,171</a:t>
            </a:r>
          </a:p>
          <a:p>
            <a:pPr>
              <a:spcBef>
                <a:spcPts val="400"/>
              </a:spcBef>
              <a:defRPr sz="1100" b="1">
                <a:solidFill>
                  <a:srgbClr val="F0F6FC"/>
                </a:solidFill>
              </a:defRPr>
            </a:pPr>
            <a:r>
              <a:t>Tier 1 Matches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HLTV verified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297680"/>
            <a:ext cx="2450592" cy="13258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4434840"/>
            <a:ext cx="21762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800"/>
                </a:solidFill>
              </a:defRPr>
            </a:pPr>
            <a:r>
              <a:t>+0.87</a:t>
            </a:r>
          </a:p>
          <a:p>
            <a:pPr>
              <a:spcBef>
                <a:spcPts val="400"/>
              </a:spcBef>
              <a:defRPr sz="1100" b="1">
                <a:solidFill>
                  <a:srgbClr val="F0F6FC"/>
                </a:solidFill>
              </a:defRPr>
            </a:pPr>
            <a:r>
              <a:t>Win Rate Correlation (r)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R² = 0.76 explained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14816" y="4297680"/>
            <a:ext cx="2450592" cy="13258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4434840"/>
            <a:ext cx="21762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371F7"/>
                </a:solidFill>
              </a:defRPr>
            </a:pPr>
            <a:r>
              <a:t>55–58%</a:t>
            </a:r>
          </a:p>
          <a:p>
            <a:pPr>
              <a:spcBef>
                <a:spcPts val="400"/>
              </a:spcBef>
              <a:defRPr sz="1100" b="1">
                <a:solidFill>
                  <a:srgbClr val="F0F6FC"/>
                </a:solidFill>
              </a:defRPr>
            </a:pPr>
            <a:r>
              <a:t>Sustained Success Rate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Positive 90-day trajectory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8A6FF"/>
                </a:solidFill>
                <a:latin typeface="Arial"/>
              </a:defRPr>
            </a:pPr>
            <a:r>
              <a:t>01 / METRIC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  <a:latin typeface="Arial"/>
              </a:defRPr>
            </a:pPr>
            <a:r>
              <a:t>Why HLTV Rating Matters: Predictive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Arial"/>
              </a:defRPr>
            </a:pPr>
            <a:r>
              <a:t>Demonstrating that individual and aggregate team ratings strongly predict Tier 1 match outcomes (r = +0.87, R² = 0.76)</a:t>
            </a:r>
          </a:p>
        </p:txBody>
      </p:sp>
      <p:pic>
        <p:nvPicPr>
          <p:cNvPr id="5" name="Picture 4" descr="tier1_winrate_vs_rating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4191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645920"/>
            <a:ext cx="3931920" cy="46634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8A6FF"/>
                </a:solidFill>
              </a:defRPr>
            </a:pPr>
            <a:r>
              <a:t>Key Validation Principles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Decisive Predictor: </a:t>
            </a:r>
            <a:r>
              <a:rPr sz="1050">
                <a:solidFill>
                  <a:srgbClr val="8B949E"/>
                </a:solidFill>
              </a:rPr>
              <a:t>HLTV rating is not statistical noise. Team rating explains 76% of match win rate variance across top 30 play.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Tier 1 Dominance Tier: </a:t>
            </a:r>
            <a:r>
              <a:rPr sz="1050">
                <a:solidFill>
                  <a:srgbClr val="8B949E"/>
                </a:solidFill>
              </a:rPr>
              <a:t>Teams maintaining a 1.11+ average rating (Spirit, Vitality, MOUZ) convert at a 66%–77% win rate.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Sub-1.04 Danger Zone: </a:t>
            </a:r>
            <a:r>
              <a:rPr sz="1050">
                <a:solidFill>
                  <a:srgbClr val="8B949E"/>
                </a:solidFill>
              </a:rPr>
              <a:t>Teams averaging below 1.04 rating win fewer than 45% of Tier 1 matches, struggling to survive group stages.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Methodological Link: </a:t>
            </a:r>
            <a:r>
              <a:rPr sz="1050">
                <a:solidFill>
                  <a:srgbClr val="8B949E"/>
                </a:solidFill>
              </a:rPr>
              <a:t>Validates our 2-panel case study design: individual player rating shifts directly drive team win rate changes.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Animated Evolution: </a:t>
            </a:r>
            <a:r>
              <a:rPr sz="1050">
                <a:solidFill>
                  <a:srgbClr val="8B949E"/>
                </a:solidFill>
              </a:rPr>
              <a:t>Animation demonstrates that rating advantages hold consistently over time, not as short-term flukes.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B950"/>
                </a:solidFill>
                <a:latin typeface="Arial"/>
              </a:defRPr>
            </a:pPr>
            <a:r>
              <a:t>02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  <a:latin typeface="Arial"/>
              </a:defRPr>
            </a:pPr>
            <a:r>
              <a:t>Team Vitality (+ropz, -Spinx) /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Arial"/>
              </a:defRPr>
            </a:pPr>
            <a:r>
              <a:t>Vitality Dynasty (2025-01-13) • Forging an Unstoppable 94.1% Tier 1 Win Rate Machine</a:t>
            </a:r>
          </a:p>
        </p:txBody>
      </p:sp>
      <p:pic>
        <p:nvPicPr>
          <p:cNvPr id="5" name="Picture 4" descr="case_study_vit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52308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645920"/>
            <a:ext cx="3931920" cy="46634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FB950"/>
                </a:solidFill>
              </a:defRPr>
            </a:pPr>
            <a:r>
              <a:t>Strategic Insights &amp; Roster Impact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Trading from Strength: </a:t>
            </a:r>
            <a:r>
              <a:rPr sz="1050">
                <a:solidFill>
                  <a:srgbClr val="8B949E"/>
                </a:solidFill>
              </a:rPr>
              <a:t>Vitality reached the Shanghai Major semifinals, but traded Spinx (departing at 1.17 rating) to upgrade team synergy.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94.1% Win Rate Machine: </a:t>
            </a:r>
            <a:r>
              <a:rPr sz="1050">
                <a:solidFill>
                  <a:srgbClr val="8B949E"/>
                </a:solidFill>
              </a:rPr>
              <a:t>16 wins in 17 matches across the 90-day post-change period, dropping only a single opening group match.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Triple Trophy Sweep: </a:t>
            </a:r>
            <a:r>
              <a:rPr sz="1050">
                <a:solidFill>
                  <a:srgbClr val="8B949E"/>
                </a:solidFill>
              </a:rPr>
              <a:t>Flawless 100% tournament win rates at IEM Katowice [1st], ESL Pro League Season 21 [1st], and BLAST Open Lisbon [1st].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ZywOo Unleashed: </a:t>
            </a:r>
            <a:r>
              <a:rPr sz="1050">
                <a:solidFill>
                  <a:srgbClr val="8B949E"/>
                </a:solidFill>
              </a:rPr>
              <a:t>ropz (1.21 rating) locked down passive anchoring, enabling superstar ZywOo to peak at a staggering 1.49 rating.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Verdict: </a:t>
            </a:r>
            <a:r>
              <a:rPr sz="1050">
                <a:solidFill>
                  <a:srgbClr val="8B949E"/>
                </a:solidFill>
              </a:rPr>
              <a:t>The gold standard of successful 1-player upgrades: elevated the core baseline from 1.12 to 1.34+.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71F7"/>
                </a:solidFill>
                <a:latin typeface="Arial"/>
              </a:defRPr>
            </a:pPr>
            <a:r>
              <a:t>03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  <a:latin typeface="Arial"/>
              </a:defRPr>
            </a:pPr>
            <a:r>
              <a:t>Falcons (+karrigan, -kyxsan) /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Arial"/>
              </a:defRPr>
            </a:pPr>
            <a:r>
              <a:t>Falcons Championship Blueprint (2026-04-20) • Tactical Leadership Masterstroke to Major Glory</a:t>
            </a:r>
          </a:p>
        </p:txBody>
      </p:sp>
      <p:pic>
        <p:nvPicPr>
          <p:cNvPr id="5" name="Picture 4" descr="case_study_fal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52308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645920"/>
            <a:ext cx="3931920" cy="46634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371F7"/>
                </a:solidFill>
              </a:defRPr>
            </a:pPr>
            <a:r>
              <a:t>Strategic Insights &amp; Roster Impact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The Pre-Change Dilemma: </a:t>
            </a:r>
            <a:r>
              <a:rPr sz="1050">
                <a:solidFill>
                  <a:srgbClr val="8B949E"/>
                </a:solidFill>
              </a:rPr>
              <a:t>Falcons were stuck at a 50% European win rate; outgoing IGL kyxsan had a fragging gap (0.99) next to a 1.20+ core.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The Leadership Trade-off: </a:t>
            </a:r>
            <a:r>
              <a:rPr sz="1050">
                <a:solidFill>
                  <a:srgbClr val="8B949E"/>
                </a:solidFill>
              </a:rPr>
              <a:t>karrigan brought modest individual fragging (0.71–0.78), but installed an aggressive macro calling system.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Superstars Unlocked: </a:t>
            </a:r>
            <a:r>
              <a:rPr sz="1050">
                <a:solidFill>
                  <a:srgbClr val="8B949E"/>
                </a:solidFill>
              </a:rPr>
              <a:t>karrigan's spacing created optimal trade scenarios for NiKo and m0NESY, both dominating above 1.25 rating.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Major Champions: </a:t>
            </a:r>
            <a:r>
              <a:rPr sz="1050">
                <a:solidFill>
                  <a:srgbClr val="8B949E"/>
                </a:solidFill>
              </a:rPr>
              <a:t>Lift to 71–80% win rates in Asia/Astana climaxed with the IEM Cologne Major 2026 title (6/7 wins, 3-0 Grand Final).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Verdict: </a:t>
            </a:r>
            <a:r>
              <a:rPr sz="1050">
                <a:solidFill>
                  <a:srgbClr val="8B949E"/>
                </a:solidFill>
              </a:rPr>
              <a:t>Proves that trading individual rating for elite leadership can transform a playoff fringe roster into Major Champions.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800"/>
                </a:solidFill>
                <a:latin typeface="Arial"/>
              </a:defRPr>
            </a:pPr>
            <a:r>
              <a:t>04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  <a:latin typeface="Arial"/>
              </a:defRPr>
            </a:pPr>
            <a:r>
              <a:t>MOUZ (+Spinx, -siuhy) /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Arial"/>
              </a:defRPr>
            </a:pPr>
            <a:r>
              <a:t>MOUZ Captaincy Shift (2025-01-27) • Firepower Injection &amp; The Cost of Role Readjustment</a:t>
            </a:r>
          </a:p>
        </p:txBody>
      </p:sp>
      <p:pic>
        <p:nvPicPr>
          <p:cNvPr id="5" name="Picture 4" descr="case_study_mou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50305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645920"/>
            <a:ext cx="3931920" cy="46634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</a:defRPr>
            </a:pPr>
            <a:r>
              <a:t>Strategic Insights &amp; Roster Impact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The Captaincy Gamble: </a:t>
            </a:r>
            <a:r>
              <a:rPr sz="1050">
                <a:solidFill>
                  <a:srgbClr val="8B949E"/>
                </a:solidFill>
              </a:rPr>
              <a:t>MOUZ parted with long-standing IGL siuhy, injecting superstar rifler Spinx to boost pure fragging power.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Adaptation Shock: </a:t>
            </a:r>
            <a:r>
              <a:rPr sz="1050">
                <a:solidFill>
                  <a:srgbClr val="8B949E"/>
                </a:solidFill>
              </a:rPr>
              <a:t>Loss of caller caused immediate tactical confusion: 0/2 elimination at IEM Katowice 2025 (Week 1).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Post-Break Rebound: </a:t>
            </a:r>
            <a:r>
              <a:rPr sz="1050">
                <a:solidFill>
                  <a:srgbClr val="8B949E"/>
                </a:solidFill>
              </a:rPr>
              <a:t>Following a 4-week role recalibration, MOUZ surged back with a 71–75% win rate across PGL Cluj and EPL S21.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Floor Elevation: </a:t>
            </a:r>
            <a:r>
              <a:rPr sz="1050">
                <a:solidFill>
                  <a:srgbClr val="8B949E"/>
                </a:solidFill>
              </a:rPr>
              <a:t>Spinx stabilized at a reliable 1.13 rating, raising the core floor from 1.04 to 1.13.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Verdict: </a:t>
            </a:r>
            <a:r>
              <a:rPr sz="1050">
                <a:solidFill>
                  <a:srgbClr val="8B949E"/>
                </a:solidFill>
              </a:rPr>
              <a:t>Illustrates the classic adaptation valley: high-caliber firepower eventually pays off, but demands a 3–4 week grace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8A6FF"/>
                </a:solidFill>
                <a:latin typeface="Arial"/>
              </a:defRPr>
            </a:pPr>
            <a:r>
              <a:t>05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  <a:latin typeface="Arial"/>
              </a:defRPr>
            </a:pPr>
            <a:r>
              <a:t>Natus Vincere (+makazze, -jL) /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Arial"/>
              </a:defRPr>
            </a:pPr>
            <a:r>
              <a:t>NAVI Post-Major Reset (2025-07-14) • Promoting Youth Talent After Major Hangover</a:t>
            </a:r>
          </a:p>
        </p:txBody>
      </p:sp>
      <p:pic>
        <p:nvPicPr>
          <p:cNvPr id="5" name="Picture 4" descr="case_study_na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50726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645920"/>
            <a:ext cx="3931920" cy="46634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8A6FF"/>
                </a:solidFill>
              </a:defRPr>
            </a:pPr>
            <a:r>
              <a:t>Strategic Insights &amp; Roster Impact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Major Hangover: </a:t>
            </a:r>
            <a:r>
              <a:rPr sz="1050">
                <a:solidFill>
                  <a:srgbClr val="8B949E"/>
                </a:solidFill>
              </a:rPr>
              <a:t>Austin Major MVP jL suffered a sharp form slump (dropping to 0.86 rating), prompting NAVI to promote youth talent makazze.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Initial Stumble: </a:t>
            </a:r>
            <a:r>
              <a:rPr sz="1050">
                <a:solidFill>
                  <a:srgbClr val="8B949E"/>
                </a:solidFill>
              </a:rPr>
              <a:t>Going 3–6 at IEM Cologne 2025 (Week 2) during role integration showed typical adaptation friction.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Breakout Star: </a:t>
            </a:r>
            <a:r>
              <a:rPr sz="1050">
                <a:solidFill>
                  <a:srgbClr val="8B949E"/>
                </a:solidFill>
              </a:rPr>
              <a:t>makazze posted a 1.16 average post-change rating, peaking at 1.33 and outperforming the predecessor by +0.30.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StarLadder Champions: </a:t>
            </a:r>
            <a:r>
              <a:rPr sz="1050">
                <a:solidFill>
                  <a:srgbClr val="8B949E"/>
                </a:solidFill>
              </a:rPr>
              <a:t>Powered an undefeated 100% win rate run at StarLadder Fall and playoffs at ESL Pro League Season 22.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• Verdict: </a:t>
            </a:r>
            <a:r>
              <a:rPr sz="1050">
                <a:solidFill>
                  <a:srgbClr val="8B949E"/>
                </a:solidFill>
              </a:rPr>
              <a:t>A textbook promotion case study: resolving a declining player slot restored championship pedigree within 6 weeks.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B950"/>
                </a:solidFill>
                <a:latin typeface="Arial"/>
              </a:defRPr>
            </a:pPr>
            <a:r>
              <a:t>06 / MACRO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  <a:latin typeface="Arial"/>
              </a:defRPr>
            </a:pPr>
            <a:r>
              <a:t>The 90-Day CS2 Roster Lifecycle: Empirical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Arial"/>
              </a:defRPr>
            </a:pPr>
            <a:r>
              <a:t>Macroeconomic findings across 45 isolated 1-player substitutions • 1,171 Tier 1 matches</a:t>
            </a:r>
          </a:p>
        </p:txBody>
      </p:sp>
      <p:pic>
        <p:nvPicPr>
          <p:cNvPr id="5" name="Picture 4" descr="aggregated_roster_dynamics_isolated_9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65273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645920"/>
            <a:ext cx="3931920" cy="46634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FB950"/>
                </a:solidFill>
              </a:defRPr>
            </a:pPr>
            <a:r>
              <a:t>The 4 Lifecycle Stages of CS2 Roster Moves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F85149"/>
                </a:solidFill>
              </a:rPr>
              <a:t>Stage I: Pre-Change Slump (Weeks -4 to 0): </a:t>
            </a:r>
            <a:r>
              <a:rPr sz="950">
                <a:solidFill>
                  <a:srgbClr val="8B949E"/>
                </a:solidFill>
              </a:rPr>
              <a:t>Win rate plunges to a 26.0% trough at Week -2. Knowledge of benching destroys internal trust and execution.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FFB800"/>
                </a:solidFill>
              </a:rPr>
              <a:t>Stage II: Adaptation Valley (Weeks 1 to 4): </a:t>
            </a:r>
            <a:r>
              <a:rPr sz="950">
                <a:solidFill>
                  <a:srgbClr val="8B949E"/>
                </a:solidFill>
              </a:rPr>
              <a:t>Disruption shock: 33.5% WR at Week 1. Role overlap, comms recalibration, and playbook adjustments create drag.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3FB950"/>
                </a:solidFill>
              </a:rPr>
              <a:t>Stage III: Synergy Peak (Weeks 5 to 9): </a:t>
            </a:r>
            <a:r>
              <a:rPr sz="950">
                <a:solidFill>
                  <a:srgbClr val="8B949E"/>
                </a:solidFill>
              </a:rPr>
              <a:t>Monotonic ascent reaching 52.6% win rate at Week 9 (~50–60 days). Setups are internalized; synergy peaks.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58A6FF"/>
                </a:solidFill>
              </a:rPr>
              <a:t>Stage IV: Equilibrium (Weeks 10 to 12): </a:t>
            </a:r>
            <a:r>
              <a:rPr sz="950">
                <a:solidFill>
                  <a:srgbClr val="8B949E"/>
                </a:solidFill>
              </a:rPr>
              <a:t>Settles into sustainable Tier 1 baseline (45–50% WR against elite competition).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0F6FC"/>
                </a:solidFill>
              </a:rPr>
              <a:t>Definitive Answer to RQ1: </a:t>
            </a:r>
            <a:r>
              <a:rPr sz="1050">
                <a:solidFill>
                  <a:srgbClr val="58A6FF"/>
                </a:solidFill>
              </a:rPr>
              <a:t>Performance DOES improve significantly (+26.6% trough-to-peak), and improvement is SUSTAINED in 55%–58% of isolated Tier 1 roster moves.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